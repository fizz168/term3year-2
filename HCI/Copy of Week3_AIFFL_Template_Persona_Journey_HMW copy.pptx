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2" roundtripDataSignature="AMtx7mjX5Fv46/vq2sF0xm49wXjtChzN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B4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2B41"/>
                </a:solidFill>
                <a:latin typeface="Calibri"/>
                <a:ea typeface="Calibri"/>
                <a:cs typeface="Calibri"/>
                <a:sym typeface="Calibri"/>
              </a:rPr>
              <a:t>Week 3 Lab Template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640080" y="19659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169E1"/>
                </a:solidFill>
                <a:latin typeface="Calibri"/>
                <a:ea typeface="Calibri"/>
                <a:cs typeface="Calibri"/>
                <a:sym typeface="Calibri"/>
              </a:rPr>
              <a:t>From User Insight to Design Opportunity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40080" y="2743200"/>
            <a:ext cx="10515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Use this file during Week 3 lab to complete each stage of the synthesis process.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B2B41"/>
                </a:solidFill>
                <a:latin typeface="Calibri"/>
                <a:ea typeface="Calibri"/>
                <a:cs typeface="Calibri"/>
                <a:sym typeface="Calibri"/>
              </a:rPr>
              <a:t>Tasks: Target User → Empathy Map → Persona → Journey Map → POV → How Might We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B2B41"/>
                </a:solidFill>
                <a:latin typeface="Calibri"/>
                <a:ea typeface="Calibri"/>
                <a:cs typeface="Calibri"/>
                <a:sym typeface="Calibri"/>
              </a:rPr>
              <a:t>Duplicate slides if your team needs extra working space.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HCI Week 3 Lab Template · Edit directly in each section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B2B41"/>
                </a:solidFill>
                <a:latin typeface="Calibri"/>
                <a:ea typeface="Calibri"/>
                <a:cs typeface="Calibri"/>
                <a:sym typeface="Calibri"/>
              </a:rPr>
              <a:t>How to Use This Template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Fill one section at a time as AIFFL unlocks each task.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731520" y="1371600"/>
            <a:ext cx="10607040" cy="548640"/>
          </a:xfrm>
          <a:prstGeom prst="roundRect">
            <a:avLst>
              <a:gd fmla="val 16667" name="adj"/>
            </a:avLst>
          </a:prstGeom>
          <a:solidFill>
            <a:srgbClr val="4169E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914400" y="144475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1: Choose one target user and clarify why this user matters.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731520" y="2148840"/>
            <a:ext cx="10607040" cy="548640"/>
          </a:xfrm>
          <a:prstGeom prst="roundRect">
            <a:avLst>
              <a:gd fmla="val 16667" name="adj"/>
            </a:avLst>
          </a:prstGeom>
          <a:solidFill>
            <a:srgbClr val="2A9D8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914400" y="222199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2: Complete the empathy map: says, thinks, does, feels, pain points, needs.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731520" y="2926080"/>
            <a:ext cx="10607040" cy="548640"/>
          </a:xfrm>
          <a:prstGeom prst="roundRect">
            <a:avLst>
              <a:gd fmla="val 16667" name="adj"/>
            </a:avLst>
          </a:prstGeom>
          <a:solidFill>
            <a:srgbClr val="785FD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914400" y="299923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3: Turn the empathy map into one evidence-based persona.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731520" y="3703320"/>
            <a:ext cx="10607040" cy="548640"/>
          </a:xfrm>
          <a:prstGeom prst="roundRect">
            <a:avLst>
              <a:gd fmla="val 16667" name="adj"/>
            </a:avLst>
          </a:prstGeom>
          <a:solidFill>
            <a:srgbClr val="F4A2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914400" y="377647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4: Map one user journey with stages, feelings, pain points, and opportunities.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731520" y="4480560"/>
            <a:ext cx="10607040" cy="548640"/>
          </a:xfrm>
          <a:prstGeom prst="roundRect">
            <a:avLst>
              <a:gd fmla="val 16667" name="adj"/>
            </a:avLst>
          </a:prstGeom>
          <a:solidFill>
            <a:srgbClr val="56B06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914400" y="455371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5 &amp; 6: Write one POV statement and 2–3 How Might We questions.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HCI Week 3 Lab Template · Edit directly in each section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B2B41"/>
                </a:solidFill>
                <a:latin typeface="Calibri"/>
                <a:ea typeface="Calibri"/>
                <a:cs typeface="Calibri"/>
                <a:sym typeface="Calibri"/>
              </a:rPr>
              <a:t>Task 1 · Choose One Target User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Complete this after AIFFL unlocks the USER stage.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640080" y="1325880"/>
            <a:ext cx="5303520" cy="914400"/>
          </a:xfrm>
          <a:prstGeom prst="roundRect">
            <a:avLst>
              <a:gd fmla="val 16667" name="adj"/>
            </a:avLst>
          </a:prstGeom>
          <a:solidFill>
            <a:srgbClr val="E8EDF3"/>
          </a:solidFill>
          <a:ln cap="flat" cmpd="sng" w="9525">
            <a:solidFill>
              <a:srgbClr val="4169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 ,worker ,tourist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777240" y="13990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2B41"/>
                </a:solidFill>
                <a:latin typeface="Calibri"/>
                <a:ea typeface="Calibri"/>
                <a:cs typeface="Calibri"/>
                <a:sym typeface="Calibri"/>
              </a:rPr>
              <a:t>Who is the target user?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822959" y="1737360"/>
            <a:ext cx="4937759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822959" y="1938528"/>
            <a:ext cx="4937759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640080" y="2514600"/>
            <a:ext cx="5303520" cy="1005840"/>
          </a:xfrm>
          <a:prstGeom prst="roundRect">
            <a:avLst>
              <a:gd fmla="val 16667" name="adj"/>
            </a:avLst>
          </a:prstGeom>
          <a:solidFill>
            <a:srgbClr val="E8EDF3"/>
          </a:solidFill>
          <a:ln cap="flat" cmpd="sng" w="9525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they provide us the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statistic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 and feedback for us to improve our app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777240" y="25877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2B41"/>
                </a:solidFill>
                <a:latin typeface="Calibri"/>
                <a:ea typeface="Calibri"/>
                <a:cs typeface="Calibri"/>
                <a:sym typeface="Calibri"/>
              </a:rPr>
              <a:t>Why does this user matter?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822959" y="2926080"/>
            <a:ext cx="4937759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822959" y="3127248"/>
            <a:ext cx="4937759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40080" y="3840480"/>
            <a:ext cx="5303520" cy="914400"/>
          </a:xfrm>
          <a:prstGeom prst="roundRect">
            <a:avLst>
              <a:gd fmla="val 16667" name="adj"/>
            </a:avLst>
          </a:prstGeom>
          <a:solidFill>
            <a:srgbClr val="E8EDF3"/>
          </a:solidFill>
          <a:ln cap="flat" cmpd="sng" w="9525">
            <a:solidFill>
              <a:srgbClr val="785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keep track of bus and know the route of the bus to where they’re going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77240" y="39136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2B41"/>
                </a:solidFill>
                <a:latin typeface="Calibri"/>
                <a:ea typeface="Calibri"/>
                <a:cs typeface="Calibri"/>
                <a:sym typeface="Calibri"/>
              </a:rPr>
              <a:t>Main goal of this user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822959" y="4251960"/>
            <a:ext cx="4937759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822959" y="4453128"/>
            <a:ext cx="4937759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217920" y="1325880"/>
            <a:ext cx="5303520" cy="3429000"/>
          </a:xfrm>
          <a:prstGeom prst="roundRect">
            <a:avLst>
              <a:gd fmla="val 16667" name="adj"/>
            </a:avLst>
          </a:prstGeom>
          <a:solidFill>
            <a:srgbClr val="E8EDF3"/>
          </a:solidFill>
          <a:ln cap="flat" cmpd="sng" w="9525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anywhere, any time, phone laptop tablet, internet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6355080" y="13990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2B41"/>
                </a:solidFill>
                <a:latin typeface="Calibri"/>
                <a:ea typeface="Calibri"/>
                <a:cs typeface="Calibri"/>
                <a:sym typeface="Calibri"/>
              </a:rPr>
              <a:t>Context of use</a:t>
            </a:r>
            <a:br>
              <a:rPr b="1" lang="en-US" sz="1400">
                <a:solidFill>
                  <a:srgbClr val="1B2B4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400">
                <a:solidFill>
                  <a:srgbClr val="1B2B41"/>
                </a:solidFill>
                <a:latin typeface="Calibri"/>
                <a:ea typeface="Calibri"/>
                <a:cs typeface="Calibri"/>
                <a:sym typeface="Calibri"/>
              </a:rPr>
              <a:t>(Where, when, with what device, under what constraints?)</a:t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6400800" y="1828800"/>
            <a:ext cx="4937759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6400800" y="2157984"/>
            <a:ext cx="4937759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6400800" y="2487168"/>
            <a:ext cx="4937759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6400800" y="2816352"/>
            <a:ext cx="4937759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6400800" y="3145536"/>
            <a:ext cx="4937759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6400800" y="3474720"/>
            <a:ext cx="4937759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6400800" y="3803904"/>
            <a:ext cx="4937759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6400800" y="4133087"/>
            <a:ext cx="4937759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HCI Week 3 Lab Template · Edit directly in each section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B2B41"/>
                </a:solidFill>
                <a:latin typeface="Calibri"/>
                <a:ea typeface="Calibri"/>
                <a:cs typeface="Calibri"/>
                <a:sym typeface="Calibri"/>
              </a:rPr>
              <a:t>Task 3 · Persona</a:t>
            </a:r>
            <a:endParaRPr/>
          </a:p>
        </p:txBody>
      </p:sp>
      <p:sp>
        <p:nvSpPr>
          <p:cNvPr id="144" name="Google Shape;144;p5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Turn the empathy map into one evidence-based persona.</a:t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685800" y="1325880"/>
            <a:ext cx="2834640" cy="4754880"/>
          </a:xfrm>
          <a:prstGeom prst="roundRect">
            <a:avLst>
              <a:gd fmla="val 16667" name="adj"/>
            </a:avLst>
          </a:prstGeom>
          <a:solidFill>
            <a:srgbClr val="E8EDF3"/>
          </a:solidFill>
          <a:ln cap="flat" cmpd="sng" w="9525">
            <a:solidFill>
              <a:srgbClr val="4169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914400" y="1508760"/>
            <a:ext cx="2377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B41"/>
                </a:solidFill>
                <a:latin typeface="Calibri"/>
                <a:ea typeface="Calibri"/>
                <a:cs typeface="Calibri"/>
                <a:sym typeface="Calibri"/>
              </a:rPr>
              <a:t>Persona Name / Label</a:t>
            </a:r>
            <a:endParaRPr b="1" sz="1600">
              <a:solidFill>
                <a:srgbClr val="1B2B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B41"/>
                </a:solidFill>
                <a:latin typeface="Calibri"/>
                <a:ea typeface="Calibri"/>
                <a:cs typeface="Calibri"/>
                <a:sym typeface="Calibri"/>
              </a:rPr>
              <a:t>chay </a:t>
            </a:r>
            <a:endParaRPr b="1" sz="1600">
              <a:solidFill>
                <a:srgbClr val="1B2B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914400" y="2103128"/>
            <a:ext cx="210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Short description</a:t>
            </a:r>
            <a:endParaRPr b="1" sz="1200">
              <a:solidFill>
                <a:srgbClr val="5A62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-Second year who depend on bus to travel </a:t>
            </a:r>
            <a:endParaRPr b="1" sz="1200">
              <a:solidFill>
                <a:srgbClr val="5A62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914400" y="2359152"/>
            <a:ext cx="2194560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914400" y="2834639"/>
            <a:ext cx="210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Main goal</a:t>
            </a:r>
            <a:endParaRPr b="1" sz="1200">
              <a:solidFill>
                <a:srgbClr val="5A62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to know where when the bus arrive and direction of the bus </a:t>
            </a:r>
            <a:endParaRPr b="1" sz="1200">
              <a:solidFill>
                <a:srgbClr val="5A62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914400" y="3090672"/>
            <a:ext cx="2194560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914400" y="3566160"/>
            <a:ext cx="2103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Key frustration</a:t>
            </a:r>
            <a:endParaRPr b="1" sz="1200">
              <a:solidFill>
                <a:srgbClr val="5A62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-Cannot track time when the bus arrive and don’t know where to wait </a:t>
            </a:r>
            <a:endParaRPr b="1" sz="1200">
              <a:solidFill>
                <a:srgbClr val="5A62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914400" y="3822191"/>
            <a:ext cx="2194560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914400" y="4297680"/>
            <a:ext cx="2103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endParaRPr b="1" sz="1200">
              <a:solidFill>
                <a:srgbClr val="5A62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-Chay travel everyday </a:t>
            </a:r>
            <a:r>
              <a:rPr b="1" lang="en-US" sz="12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worrying the bus arriving causing him to late for class </a:t>
            </a:r>
            <a:endParaRPr b="1" sz="1200">
              <a:solidFill>
                <a:srgbClr val="5A62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914400" y="4553712"/>
            <a:ext cx="2194560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914400" y="5029200"/>
            <a:ext cx="2103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Quote</a:t>
            </a:r>
            <a:endParaRPr b="1" sz="1200">
              <a:solidFill>
                <a:srgbClr val="5A62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lang="en-US" sz="12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I just want a bus system that helps me arrive on time without confusion or long waiting</a:t>
            </a:r>
            <a:endParaRPr b="1" sz="1200">
              <a:solidFill>
                <a:srgbClr val="5A62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914400" y="5285232"/>
            <a:ext cx="2194560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3840480" y="1325880"/>
            <a:ext cx="3566160" cy="2011680"/>
          </a:xfrm>
          <a:prstGeom prst="roundRect">
            <a:avLst>
              <a:gd fmla="val 16667" name="adj"/>
            </a:avLst>
          </a:prstGeom>
          <a:solidFill>
            <a:srgbClr val="E8EDF3"/>
          </a:solidFill>
          <a:ln cap="flat" cmpd="sng" w="9525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Arrive at university on time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 transportation costs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Travel safely and comfortably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3977640" y="139903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2B41"/>
                </a:solidFill>
                <a:latin typeface="Calibri"/>
                <a:ea typeface="Calibri"/>
                <a:cs typeface="Calibri"/>
                <a:sym typeface="Calibri"/>
              </a:rPr>
              <a:t>Goals</a:t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4023360" y="1783080"/>
            <a:ext cx="3200400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023360" y="2112264"/>
            <a:ext cx="3200400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023360" y="2441448"/>
            <a:ext cx="3200400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023360" y="2770632"/>
            <a:ext cx="3200400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7635240" y="1325880"/>
            <a:ext cx="3840480" cy="2011680"/>
          </a:xfrm>
          <a:prstGeom prst="roundRect">
            <a:avLst>
              <a:gd fmla="val 16667" name="adj"/>
            </a:avLst>
          </a:prstGeom>
          <a:solidFill>
            <a:srgbClr val="E8EDF3"/>
          </a:solidFill>
          <a:ln cap="flat" cmpd="sng" w="9525">
            <a:solidFill>
              <a:srgbClr val="785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-Uses mobile phone to check directions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-Leaves home early to avoid being late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-Sometimes asks others for help with routes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7772400" y="1399032"/>
            <a:ext cx="356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2B41"/>
                </a:solidFill>
                <a:latin typeface="Calibri"/>
                <a:ea typeface="Calibri"/>
                <a:cs typeface="Calibri"/>
                <a:sym typeface="Calibri"/>
              </a:rPr>
              <a:t>Behaviors</a:t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7818119" y="1783080"/>
            <a:ext cx="3474720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7818119" y="2112264"/>
            <a:ext cx="3474720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7818119" y="2441448"/>
            <a:ext cx="3474720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7818119" y="2770632"/>
            <a:ext cx="3474720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3840480" y="3657600"/>
            <a:ext cx="3566160" cy="2011680"/>
          </a:xfrm>
          <a:prstGeom prst="roundRect">
            <a:avLst>
              <a:gd fmla="val 16667" name="adj"/>
            </a:avLst>
          </a:prstGeom>
          <a:solidFill>
            <a:srgbClr val="E8EDF3"/>
          </a:solidFill>
          <a:ln cap="flat" cmpd="sng" w="9525">
            <a:solidFill>
              <a:srgbClr val="56B06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Chay needs a reliable and easy-to-understand bus system so he can travel to university on time with less stress and confusion.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3977640" y="373075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2B41"/>
                </a:solidFill>
                <a:latin typeface="Calibri"/>
                <a:ea typeface="Calibri"/>
                <a:cs typeface="Calibri"/>
                <a:sym typeface="Calibri"/>
              </a:rPr>
              <a:t>Needs</a:t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4023360" y="4114800"/>
            <a:ext cx="3200400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023360" y="4443984"/>
            <a:ext cx="3200400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023360" y="4773168"/>
            <a:ext cx="3200400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023360" y="5102352"/>
            <a:ext cx="3200400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7635240" y="3657600"/>
            <a:ext cx="3840480" cy="2011680"/>
          </a:xfrm>
          <a:prstGeom prst="roundRect">
            <a:avLst>
              <a:gd fmla="val 16667" name="adj"/>
            </a:avLst>
          </a:prstGeom>
          <a:solidFill>
            <a:srgbClr val="E8EDF3"/>
          </a:solidFill>
          <a:ln cap="flat" cmpd="sng" w="9525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-Bus delays and unclear schedules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-Crowded buses during busy hours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-Difficulty knowing the correct route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7772400" y="373075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2B41"/>
                </a:solidFill>
                <a:latin typeface="Calibri"/>
                <a:ea typeface="Calibri"/>
                <a:cs typeface="Calibri"/>
                <a:sym typeface="Calibri"/>
              </a:rPr>
              <a:t>Frustrations</a:t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7818119" y="4114800"/>
            <a:ext cx="3474720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7818119" y="4443984"/>
            <a:ext cx="3474720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7818119" y="4773168"/>
            <a:ext cx="3474720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7818119" y="5102352"/>
            <a:ext cx="3474720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HCI Week 3 Lab Template · Edit directly in each section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B2B41"/>
                </a:solidFill>
                <a:latin typeface="Calibri"/>
                <a:ea typeface="Calibri"/>
                <a:cs typeface="Calibri"/>
                <a:sym typeface="Calibri"/>
              </a:rPr>
              <a:t>Task 4 · User Journey Map</a:t>
            </a:r>
            <a:endParaRPr/>
          </a:p>
        </p:txBody>
      </p:sp>
      <p:sp>
        <p:nvSpPr>
          <p:cNvPr id="188" name="Google Shape;188;p6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Map one important experience for your persona.</a:t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548640" y="1325880"/>
            <a:ext cx="1188720" cy="502920"/>
          </a:xfrm>
          <a:prstGeom prst="roundRect">
            <a:avLst>
              <a:gd fmla="val 16667" name="adj"/>
            </a:avLst>
          </a:prstGeom>
          <a:solidFill>
            <a:srgbClr val="4169E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594360" y="142646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</a:t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548640" y="1874519"/>
            <a:ext cx="1188720" cy="4297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169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-before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leaving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-waiting for bus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-riding bus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-arriving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548640" y="2734056"/>
            <a:ext cx="1188720" cy="9144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548640" y="3593591"/>
            <a:ext cx="1188720" cy="9144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48640" y="4453128"/>
            <a:ext cx="1188720" cy="9144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548640" y="5312664"/>
            <a:ext cx="1188720" cy="9144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1920240" y="1325880"/>
            <a:ext cx="2468880" cy="502920"/>
          </a:xfrm>
          <a:prstGeom prst="roundRect">
            <a:avLst>
              <a:gd fmla="val 16667" name="adj"/>
            </a:avLst>
          </a:prstGeom>
          <a:solidFill>
            <a:srgbClr val="2A9D8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1965960" y="142646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the user does</a:t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1920240" y="1874519"/>
            <a:ext cx="2468880" cy="4297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 for bus worry if the bus delay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travel crowded condition rush to class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1920240" y="2734056"/>
            <a:ext cx="2468880" cy="9144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1920240" y="3593591"/>
            <a:ext cx="2468880" cy="9144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1920240" y="4453128"/>
            <a:ext cx="2468880" cy="9144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1920240" y="5312664"/>
            <a:ext cx="2468880" cy="9144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4572000" y="1325880"/>
            <a:ext cx="2560320" cy="502920"/>
          </a:xfrm>
          <a:prstGeom prst="roundRect">
            <a:avLst>
              <a:gd fmla="val 16667" name="adj"/>
            </a:avLst>
          </a:prstGeom>
          <a:solidFill>
            <a:srgbClr val="785FD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4617720" y="1426464"/>
            <a:ext cx="24688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Thoughts / feelings</a:t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4572000" y="1874519"/>
            <a:ext cx="2560320" cy="4297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785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Frustrated when buses are delayed and had ask people for the route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4572000" y="2734056"/>
            <a:ext cx="2560320" cy="9144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4572000" y="3593591"/>
            <a:ext cx="2560320" cy="9144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572000" y="4453128"/>
            <a:ext cx="2560320" cy="9144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572000" y="5312664"/>
            <a:ext cx="2560320" cy="9144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7315200" y="1325880"/>
            <a:ext cx="1828800" cy="502920"/>
          </a:xfrm>
          <a:prstGeom prst="roundRect">
            <a:avLst>
              <a:gd fmla="val 16667" name="adj"/>
            </a:avLst>
          </a:prstGeom>
          <a:solidFill>
            <a:srgbClr val="F4A26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7360920" y="1426464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Pain point</a:t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7315200" y="1874519"/>
            <a:ext cx="1828800" cy="4297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 delays make students late for class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7315200" y="2734056"/>
            <a:ext cx="1828800" cy="9144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7315200" y="3593591"/>
            <a:ext cx="1828800" cy="9144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7315200" y="4453128"/>
            <a:ext cx="1828800" cy="9144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7315200" y="5312664"/>
            <a:ext cx="1828800" cy="9144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9372600" y="1325880"/>
            <a:ext cx="2194560" cy="502920"/>
          </a:xfrm>
          <a:prstGeom prst="roundRect">
            <a:avLst>
              <a:gd fmla="val 16667" name="adj"/>
            </a:avLst>
          </a:prstGeom>
          <a:solidFill>
            <a:srgbClr val="56B06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 txBox="1"/>
          <p:nvPr/>
        </p:nvSpPr>
        <p:spPr>
          <a:xfrm>
            <a:off x="9418320" y="1426464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Opportunity</a:t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9372600" y="1874519"/>
            <a:ext cx="2194560" cy="4297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6B06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opportunity to improve the city bus experience by providing clearer schedules and real-time bus updates to help students travel more confidently and arrive on time.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9372600" y="2734056"/>
            <a:ext cx="2194560" cy="9144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9372600" y="3593591"/>
            <a:ext cx="2194560" cy="9144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9372600" y="4453128"/>
            <a:ext cx="2194560" cy="9144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9372600" y="5312664"/>
            <a:ext cx="2194560" cy="9144"/>
          </a:xfrm>
          <a:prstGeom prst="rect">
            <a:avLst/>
          </a:prstGeom>
          <a:solidFill>
            <a:srgbClr val="E8ED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HCI Week 3 Lab Template · Edit directly in each section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B2B41"/>
                </a:solidFill>
                <a:latin typeface="Calibri"/>
                <a:ea typeface="Calibri"/>
                <a:cs typeface="Calibri"/>
                <a:sym typeface="Calibri"/>
              </a:rPr>
              <a:t>Task 5 &amp; 6 · POV + How Might We</a:t>
            </a:r>
            <a:endParaRPr/>
          </a:p>
        </p:txBody>
      </p:sp>
      <p:sp>
        <p:nvSpPr>
          <p:cNvPr id="231" name="Google Shape;231;p7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Turn synthesis into a focused opportunity statement.</a:t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731520" y="1417320"/>
            <a:ext cx="10789920" cy="1325880"/>
          </a:xfrm>
          <a:prstGeom prst="roundRect">
            <a:avLst>
              <a:gd fmla="val 16667" name="adj"/>
            </a:avLst>
          </a:prstGeom>
          <a:solidFill>
            <a:srgbClr val="E8EDF3"/>
          </a:solidFill>
          <a:ln cap="flat" cmpd="sng" w="9525">
            <a:solidFill>
              <a:srgbClr val="1B2B4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needs a reliable and easy-to-understand bus system so he can travel to university on time with less stress and confusion.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914400" y="1572768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B41"/>
                </a:solidFill>
                <a:latin typeface="Calibri"/>
                <a:ea typeface="Calibri"/>
                <a:cs typeface="Calibri"/>
                <a:sym typeface="Calibri"/>
              </a:rPr>
              <a:t>POV Statement</a:t>
            </a:r>
            <a:endParaRPr/>
          </a:p>
        </p:txBody>
      </p:sp>
      <p:sp>
        <p:nvSpPr>
          <p:cNvPr id="234" name="Google Shape;234;p7"/>
          <p:cNvSpPr txBox="1"/>
          <p:nvPr/>
        </p:nvSpPr>
        <p:spPr>
          <a:xfrm>
            <a:off x="657375" y="2340865"/>
            <a:ext cx="10058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[User] needs [need] because [insight].</a:t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914400" y="2240280"/>
            <a:ext cx="9875520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914400" y="2441448"/>
            <a:ext cx="9875520" cy="9144"/>
          </a:xfrm>
          <a:prstGeom prst="rect">
            <a:avLst/>
          </a:prstGeom>
          <a:solidFill>
            <a:srgbClr val="B4BE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822960" y="30632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B2B41"/>
                </a:solidFill>
                <a:latin typeface="Calibri"/>
                <a:ea typeface="Calibri"/>
                <a:cs typeface="Calibri"/>
                <a:sym typeface="Calibri"/>
              </a:rPr>
              <a:t>How Might We questions</a:t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822960" y="3566160"/>
            <a:ext cx="1060704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169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 txBox="1"/>
          <p:nvPr/>
        </p:nvSpPr>
        <p:spPr>
          <a:xfrm>
            <a:off x="1005840" y="3721608"/>
            <a:ext cx="1024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How might we help students get real-time bus updates so they can plan their travel better?</a:t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822960" y="4297680"/>
            <a:ext cx="1060704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1005840" y="4453128"/>
            <a:ext cx="1024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 How </a:t>
            </a:r>
            <a:r>
              <a:rPr lang="en-US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How might we reduce confusion about bus routes for daily commuters?</a:t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822960" y="5029200"/>
            <a:ext cx="1060704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785F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 txBox="1"/>
          <p:nvPr/>
        </p:nvSpPr>
        <p:spPr>
          <a:xfrm>
            <a:off x="1005840" y="5184648"/>
            <a:ext cx="1024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How might we How might we make waiting for the bus less stressful for students?</a:t>
            </a:r>
            <a:endParaRPr/>
          </a:p>
        </p:txBody>
      </p:sp>
      <p:sp>
        <p:nvSpPr>
          <p:cNvPr id="244" name="Google Shape;244;p7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A626C"/>
                </a:solidFill>
                <a:latin typeface="Calibri"/>
                <a:ea typeface="Calibri"/>
                <a:cs typeface="Calibri"/>
                <a:sym typeface="Calibri"/>
              </a:rPr>
              <a:t>HCI Week 3 Lab Template · Final section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